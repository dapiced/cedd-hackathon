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CEDD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23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DD"/>
                </a:solidFill>
                <a:latin typeface="Calibri"/>
              </a:defRPr>
            </a:pPr>
            <a:r>
              <a:t>Conversational Emotional Drift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46120"/>
            <a:ext cx="3931920" cy="3810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9AABB"/>
                </a:solidFill>
                <a:latin typeface="Calibri"/>
              </a:defRPr>
            </a:pPr>
            <a:r>
              <a:t>Mila Hackathon  ·  AI Safety &amp; Youth Mental 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297680"/>
            <a:ext cx="4480560" cy="594360"/>
          </a:xfrm>
          <a:prstGeom prst="roundRect">
            <a:avLst/>
          </a:prstGeom>
          <a:solidFill>
            <a:srgbClr val="243B5E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7AE60"/>
                </a:solidFill>
                <a:latin typeface="Calibri"/>
              </a:rPr>
              <a:t>Team  404HarmNotFound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  <a:latin typeface="Calibri"/>
              </a:defRPr>
            </a:pPr>
            <a:r>
              <a:t>March 23,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Why current chatbots fail youth in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Youth mental health chatbots see each message in isolation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They miss the trajectory: shorter messages, fewer questions, loss of hope words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444444"/>
                </a:solidFill>
                <a:latin typeface="Calibri"/>
              </a:defRPr>
            </a:pPr>
            <a:r>
              <a:t>•  A youth can spiral across 10 messages and the chatbot keeps responding the same 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5486400" cy="594360"/>
          </a:xfrm>
          <a:prstGeom prst="roundRect">
            <a:avLst/>
          </a:prstGeom>
          <a:solidFill>
            <a:srgbClr val="D6E9F8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700" b="1" i="1">
                <a:solidFill>
                  <a:srgbClr val="1B2A4A"/>
                </a:solidFill>
                <a:latin typeface="Calibri"/>
              </a:defRPr>
            </a:pPr>
            <a:r>
              <a:t>"The signal is in the trajectory, not in the words."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71600"/>
            <a:ext cx="475488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980B9"/>
                </a:solidFill>
                <a:latin typeface="Calibri"/>
              </a:defRPr>
            </a:pPr>
            <a:r>
              <a:t>46%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of KHP youth identify as 2SLGBTQ+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560320"/>
            <a:ext cx="475488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651760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74C3C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974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Suicide contacts among youth 13 and under</a:t>
            </a:r>
            <a:br/>
            <a:r>
              <a:t>doubled in 4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749040"/>
            <a:ext cx="475488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840480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  <a:latin typeface="Calibri"/>
              </a:defRPr>
            </a:pPr>
            <a:r>
              <a:t>44%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8620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of 988 callers abandon before connecting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4937760"/>
            <a:ext cx="4754880" cy="1051560"/>
          </a:xfrm>
          <a:prstGeom prst="roundRect">
            <a:avLst/>
          </a:prstGeom>
          <a:solidFill>
            <a:srgbClr val="F5F5F5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5029200"/>
            <a:ext cx="1188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7492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share something they've never told anyone else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Our Solution: CEDD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Real-time safety layer beside any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Monitors emotional drift across the full conversation, not single messages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4 alert levels: Green → Yellow → Orange → Red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Bilingual native: French + English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~0ms detection latency, $0 compute (ML only, LLM for response only)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383280"/>
            <a:ext cx="320040" cy="32004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4015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3383280"/>
            <a:ext cx="320040" cy="320040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34015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Calibri"/>
              </a:defRPr>
            </a:pPr>
            <a:r>
              <a:t>Yellow</a:t>
            </a:r>
          </a:p>
        </p:txBody>
      </p:sp>
      <p:sp>
        <p:nvSpPr>
          <p:cNvPr id="10" name="Oval 9"/>
          <p:cNvSpPr/>
          <p:nvPr/>
        </p:nvSpPr>
        <p:spPr>
          <a:xfrm>
            <a:off x="3749040" y="3383280"/>
            <a:ext cx="320040" cy="32004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34015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Calibri"/>
              </a:defRPr>
            </a:pPr>
            <a:r>
              <a:t>Orange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3383280"/>
            <a:ext cx="320040" cy="32004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34015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44444"/>
                </a:solidFill>
                <a:latin typeface="Calibri"/>
              </a:defRPr>
            </a:pPr>
            <a:r>
              <a:t>Red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0" y="128016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Classic Approach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Keyword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67-feature trajectory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Single response mode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4 adaptive response modes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Stateless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Cross-session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Black box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Fully interpretable features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English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Bilingual FR + 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Three-layer detection + response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6858000" cy="105156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Layer 1: Lexical Safety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Crisis keywords → Orange/Red floor (priority override)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231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6858000" cy="1051560"/>
          </a:xfrm>
          <a:prstGeom prst="roundRect">
            <a:avLst/>
          </a:prstGeom>
          <a:solidFill>
            <a:srgbClr val="FEF3E4"/>
          </a:solidFill>
          <a:ln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Layer 2: ML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67 features → GradientBoosting → alert level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79476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6858000" cy="1051560"/>
          </a:xfrm>
          <a:prstGeom prst="roundRect">
            <a:avLst/>
          </a:prstGeom>
          <a:solidFill>
            <a:srgbClr val="D6E9F8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Layer 3: Response Modulation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02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Adaptive system prompt → LLM fallback chain → safe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6576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B2A4A"/>
                </a:solidFill>
                <a:latin typeface="Calibri"/>
              </a:defRPr>
            </a:pPr>
            <a:r>
              <a:t>LLM Fallback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659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1. Cohere Command 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2. Groq (Llama 3.3 70B)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3. Gemini 2.5 Flash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4. Claude Haiku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5. Static emergency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Detection: ~0ms, $0</a:t>
            </a:r>
            <a:br/>
            <a:r>
              <a:t>(ML only, no LLM needed)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67 features capturing emotional trajectory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658368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828800"/>
                <a:gridCol w="438912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word_count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Message length (shorter = concerning)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punctuation_ratio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Punctuation density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question_presence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Contains a question? (0/1)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negative_score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Negative word ratio (bilingual)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finality_score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Finality words ("end it all")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hope_score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Hope/future word ratio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length_delta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Length change vs previous msg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negation_score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Negated positives ("can't cope")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identity_conflict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2SLGBTQ+/cultural distress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somatization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Physical + emotional co-occurrence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234440"/>
            <a:ext cx="420624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Feature Computation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7451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A4A"/>
                </a:solidFill>
                <a:latin typeface="Calibri"/>
              </a:rPr>
              <a:t>10 features</a:t>
            </a:r>
            <a:r>
              <a:rPr sz="1500">
                <a:solidFill>
                  <a:srgbClr val="444444"/>
                </a:solidFill>
                <a:latin typeface="Calibri"/>
              </a:rPr>
              <a:t> × 6 temporal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30551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> (mean, std, slope, last, max,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86583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A4A"/>
                </a:solidFill>
                <a:latin typeface="Calibri"/>
              </a:rPr>
              <a:t>= 60</a:t>
            </a:r>
            <a:r>
              <a:rPr sz="1500">
                <a:solidFill>
                  <a:srgbClr val="444444"/>
                </a:solidFill>
                <a:latin typeface="Calibri"/>
              </a:rPr>
              <a:t> trajectory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42615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98647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A4A"/>
                </a:solidFill>
                <a:latin typeface="Calibri"/>
              </a:rPr>
              <a:t>+ 4</a:t>
            </a:r>
            <a:r>
              <a:rPr sz="1500">
                <a:solidFill>
                  <a:srgbClr val="444444"/>
                </a:solidFill>
                <a:latin typeface="Calibri"/>
              </a:rPr>
              <a:t> embedding features (MiniLM)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15467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> drift, crisis similarity, slope,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410711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66743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A4A"/>
                </a:solidFill>
                <a:latin typeface="Calibri"/>
              </a:rPr>
              <a:t>+ 3</a:t>
            </a:r>
            <a:r>
              <a:rPr sz="1500">
                <a:solidFill>
                  <a:srgbClr val="444444"/>
                </a:solidFill>
                <a:latin typeface="Calibri"/>
              </a:rPr>
              <a:t> coherence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922775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> short_response, topic_coherence,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178807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> question_response_ratio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434839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690871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2A4A"/>
                </a:solidFill>
                <a:latin typeface="Calibri"/>
              </a:rPr>
              <a:t>= 67</a:t>
            </a:r>
            <a:r>
              <a:rPr sz="1500">
                <a:solidFill>
                  <a:srgbClr val="444444"/>
                </a:solidFill>
                <a:latin typeface="Calibri"/>
              </a:rPr>
              <a:t> total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599431"/>
            <a:ext cx="3840480" cy="411480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67 features = full emotional trajectory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6-Gate Safety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Layered protection: ML cannot override safety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05840" cy="54864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&lt; 3 user messages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  <a:latin typeface="Calibri"/>
              </a:defRPr>
            </a:pPr>
            <a:r>
              <a:t>→ Green (not enough 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39112"/>
            <a:ext cx="1005840" cy="54864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84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Safety keyword floor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848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  <a:latin typeface="Calibri"/>
              </a:defRPr>
            </a:pPr>
            <a:r>
              <a:t>→ Force Orange/Red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52344"/>
            <a:ext cx="1005840" cy="548640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980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ML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980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  <a:latin typeface="Calibri"/>
              </a:defRPr>
            </a:pPr>
            <a:r>
              <a:t>→ GradientBoosting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65576"/>
            <a:ext cx="1005840" cy="548640"/>
          </a:xfrm>
          <a:prstGeom prst="roundRect">
            <a:avLst/>
          </a:prstGeom>
          <a:solidFill>
            <a:srgbClr val="F1C40F"/>
          </a:solidFill>
          <a:ln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112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Low confidence (&lt; 45%)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5112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  <a:latin typeface="Calibri"/>
              </a:defRPr>
            </a:pPr>
            <a:r>
              <a:t>→ Default to Yellow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78808"/>
            <a:ext cx="1005840" cy="54864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24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Short conversation (&lt; 6 msgs)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245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  <a:latin typeface="Calibri"/>
              </a:defRPr>
            </a:pPr>
            <a:r>
              <a:t>→ Cap at Orange max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92040"/>
            <a:ext cx="1005840" cy="54864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Safety floor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44444"/>
                </a:solidFill>
                <a:latin typeface="Calibri"/>
              </a:defRPr>
            </a:pPr>
            <a:r>
              <a:t>→ ML can never go below keyword level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715000"/>
            <a:ext cx="10881360" cy="594360"/>
          </a:xfrm>
          <a:prstGeom prst="roundRect">
            <a:avLst/>
          </a:prstGeom>
          <a:solidFill>
            <a:srgbClr val="D6E9F8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600" b="1" i="1">
                <a:solidFill>
                  <a:srgbClr val="1B2A4A"/>
                </a:solidFill>
                <a:latin typeface="Calibri"/>
              </a:defRPr>
            </a:pPr>
            <a:r>
              <a:t>"Asymmetric errors: false positives are always preferable to false negatives."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1325880"/>
            <a:ext cx="182880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4173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Priority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1828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4444"/>
                </a:solidFill>
                <a:latin typeface="Calibri"/>
              </a:defRPr>
            </a:pPr>
            <a:r>
              <a:t>Safety rules</a:t>
            </a:r>
            <a:br/>
            <a:r>
              <a:t>(always win)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331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4444"/>
                </a:solidFill>
                <a:latin typeface="Calibri"/>
              </a:defRPr>
            </a:pPr>
            <a:r>
              <a:t>ML model</a:t>
            </a:r>
            <a:br/>
            <a:r>
              <a:t>(when confident)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154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44444"/>
                </a:solidFill>
                <a:latin typeface="Calibri"/>
              </a:defRPr>
            </a:pPr>
            <a:r>
              <a:t>Cautious</a:t>
            </a:r>
            <a:br/>
            <a:r>
              <a:t>defaults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Track 1: Adversarial Stress-Testing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36 test cases across 20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4572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Tests passing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7 /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36 / 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Critical misses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Categories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13258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Calibri"/>
              </a:defRPr>
            </a:pPr>
            <a:r>
              <a:t>Test Categories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737360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sarcasm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737360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negation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084832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code-switching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084832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Québécois slang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432304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gradual drift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432304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direct crisis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779776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hidden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779776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manipulation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127248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somatization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127248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identity conflict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474720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sudden escalation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474720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active bypass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822192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rapid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822192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cultural FP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169664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neurodivergent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169664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emoji-only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517136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repeated word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4517136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short recovery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4864608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long message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4864608"/>
            <a:ext cx="2743200" cy="292608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AE60"/>
                </a:solidFill>
                <a:latin typeface="Calibri"/>
              </a:defRPr>
            </a:pPr>
            <a:r>
              <a:t>  ✓  emoji crisis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15000"/>
            <a:ext cx="10881360" cy="594360"/>
          </a:xfrm>
          <a:prstGeom prst="roundRect">
            <a:avLst/>
          </a:prstGeom>
          <a:solidFill>
            <a:srgbClr val="D6E9F8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 i="1">
                <a:solidFill>
                  <a:srgbClr val="1B2A4A"/>
                </a:solidFill>
                <a:latin typeface="Calibri"/>
              </a:defRPr>
            </a:pPr>
            <a:r>
              <a:t>"Exit code 2 = critical miss = blocks merge. Every crisis message must be caught."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3832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Automated CI/CD gate: safety regression blocks deployment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Tolerance-based testing: ±2 level tolerance for edge cases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Bilingual coverage: FR + EN test cases in every category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Track 2: Logic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Making detection robust against edge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Negation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"I can't cope" vs "I can cope"</a:t>
            </a:r>
            <a:br/>
            <a:r>
              <a:t>Regex patterns for FR/EN negation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1371600"/>
          </a:xfrm>
          <a:prstGeom prst="roundRect">
            <a:avLst/>
          </a:prstGeom>
          <a:solidFill>
            <a:srgbClr val="E3F2FD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Identity Conflict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2SLGBTQ+ distress expressions</a:t>
            </a:r>
            <a:br/>
            <a:r>
              <a:t>"My family won't accept who I am"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5486400" cy="137160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Somatization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Physical + emotional co-occurrence</a:t>
            </a:r>
            <a:br/>
            <a:r>
              <a:t>"My chest hurts" = emotional pain in some cultures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88920"/>
            <a:ext cx="5486400" cy="1371600"/>
          </a:xfrm>
          <a:prstGeom prst="roundRect">
            <a:avLst/>
          </a:prstGeom>
          <a:solidFill>
            <a:srgbClr val="FEF3E4"/>
          </a:solidFill>
          <a:ln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Sentence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Multilingual MiniLM (paraphrase-multilingual)</a:t>
            </a:r>
            <a:br/>
            <a:r>
              <a:t>Catches synonyms, paraphrases across FR/EN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5486400" cy="1371600"/>
          </a:xfrm>
          <a:prstGeom prst="roundRect">
            <a:avLst/>
          </a:prstGeom>
          <a:solidFill>
            <a:srgbClr val="F3E5F5"/>
          </a:solidFill>
          <a:ln>
            <a:solidFill>
              <a:srgbClr val="8E2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Behavioral Coherence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Withdrawal patterns: short responses, topic shifts</a:t>
            </a:r>
            <a:br/>
            <a:r>
              <a:t>Disengagement signals across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54864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Word-Boundary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Regex \b prevents false positives</a:t>
            </a:r>
            <a:br/>
            <a:r>
              <a:t>"morte de rire" no longer matches "mort"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Track 3: Synthetic Data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600 conversations via Claude Haiku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303520" cy="210312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480 Standard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60 conversations per class × 4 classes × 2 languages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Classes: Green (normal), Yellow (concerning), Orange (distress), Red (crisis)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12 user + 12 assistant messages per conversation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Bilingual: authentic Québécois French + Canadian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486400" cy="210312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120 Adversarial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6 archetypes × 10 convos × 2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•  physical_only: </a:t>
            </a:r>
            <a:r>
              <a:rPr sz="1200">
                <a:solidFill>
                  <a:srgbClr val="444444"/>
                </a:solidFill>
                <a:latin typeface="Calibri"/>
              </a:rPr>
              <a:t>Somatic complaints masking emotional 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41448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•  sarcasm_distress: </a:t>
            </a:r>
            <a:r>
              <a:rPr sz="1200">
                <a:solidFill>
                  <a:srgbClr val="444444"/>
                </a:solidFill>
                <a:latin typeface="Calibri"/>
              </a:rPr>
              <a:t>Humor and sarcasm hiding real crisis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42616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•  adversarial_bypass: </a:t>
            </a:r>
            <a:r>
              <a:rPr sz="1200">
                <a:solidFill>
                  <a:srgbClr val="444444"/>
                </a:solidFill>
                <a:latin typeface="Calibri"/>
              </a:rPr>
              <a:t>Attempts to manipulate/bypass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43784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•  identity_distress: </a:t>
            </a:r>
            <a:r>
              <a:rPr sz="1200">
                <a:solidFill>
                  <a:srgbClr val="444444"/>
                </a:solidFill>
                <a:latin typeface="Calibri"/>
              </a:rPr>
              <a:t>2SLGBTQ+ / cultural identity crisis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44952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•  neurodivergent_flat: </a:t>
            </a:r>
            <a:r>
              <a:rPr sz="1200">
                <a:solidFill>
                  <a:srgbClr val="444444"/>
                </a:solidFill>
                <a:latin typeface="Calibri"/>
              </a:rPr>
              <a:t>Flat affect mimicking emotional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4846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•  crisis_with_deflection: </a:t>
            </a:r>
            <a:r>
              <a:rPr sz="1200">
                <a:solidFill>
                  <a:srgbClr val="444444"/>
                </a:solidFill>
                <a:latin typeface="Calibri"/>
              </a:rPr>
              <a:t>Crisis signals with active minimization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840480"/>
          <a:ext cx="5303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Total conversations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Sample:feature ratio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7.2:1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9.0:1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CV variance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±26.4%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±1.6%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Quality annotation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Claude-scored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17920" y="3931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44444"/>
                </a:solidFill>
                <a:latin typeface="Calibri"/>
              </a:defRPr>
            </a:pPr>
            <a:r>
              <a:t>All data is 100% synthetic — no real PII (strict hackathon rule).</a:t>
            </a:r>
            <a:br/>
            <a:r>
              <a:t>Bilingual parity: every conversation exists in both FR and 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UX &amp; Warm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From cold referral to accompanied transition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371600"/>
            <a:ext cx="411480" cy="41148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Empathetic</a:t>
            </a:r>
            <a:br/>
            <a:r>
              <a:t>Acknowledgment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44444"/>
                </a:solidFill>
                <a:latin typeface="Calibri"/>
              </a:defRPr>
            </a:pPr>
            <a:r>
              <a:t>Validate feelings,</a:t>
            </a:r>
            <a:br/>
            <a:r>
              <a:t>no hotline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▶</a:t>
            </a:r>
          </a:p>
        </p:txBody>
      </p:sp>
      <p:sp>
        <p:nvSpPr>
          <p:cNvPr id="9" name="Oval 8"/>
          <p:cNvSpPr/>
          <p:nvPr/>
        </p:nvSpPr>
        <p:spPr>
          <a:xfrm>
            <a:off x="3154680" y="1371600"/>
            <a:ext cx="411480" cy="411480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Permission-Based</a:t>
            </a:r>
            <a:br/>
            <a:r>
              <a:t>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1460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44444"/>
                </a:solidFill>
                <a:latin typeface="Calibri"/>
              </a:defRPr>
            </a:pPr>
            <a:r>
              <a:t>Ask consent, frame as</a:t>
            </a:r>
            <a:br/>
            <a:r>
              <a:t>"upgrade" not rejection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▶</a:t>
            </a:r>
          </a:p>
        </p:txBody>
      </p:sp>
      <p:sp>
        <p:nvSpPr>
          <p:cNvPr id="13" name="Oval 12"/>
          <p:cNvSpPr/>
          <p:nvPr/>
        </p:nvSpPr>
        <p:spPr>
          <a:xfrm>
            <a:off x="5349240" y="1371600"/>
            <a:ext cx="411480" cy="41148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874519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Context</a:t>
            </a:r>
            <a:br/>
            <a:r>
              <a:t>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1460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44444"/>
                </a:solidFill>
                <a:latin typeface="Calibri"/>
              </a:defRPr>
            </a:pPr>
            <a:r>
              <a:t>Anonymized summary</a:t>
            </a:r>
            <a:br/>
            <a:r>
              <a:t>for KHP responder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▶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1371600"/>
            <a:ext cx="411480" cy="4114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874519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Seamless</a:t>
            </a:r>
            <a:br/>
            <a:r>
              <a:t>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1460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44444"/>
                </a:solidFill>
                <a:latin typeface="Calibri"/>
              </a:defRPr>
            </a:pPr>
            <a:r>
              <a:t>Text 686868,</a:t>
            </a:r>
            <a:br/>
            <a:r>
              <a:t>same modality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▶</a:t>
            </a:r>
          </a:p>
        </p:txBody>
      </p:sp>
      <p:sp>
        <p:nvSpPr>
          <p:cNvPr id="21" name="Oval 20"/>
          <p:cNvSpPr/>
          <p:nvPr/>
        </p:nvSpPr>
        <p:spPr>
          <a:xfrm>
            <a:off x="9738360" y="1371600"/>
            <a:ext cx="411480" cy="411480"/>
          </a:xfrm>
          <a:prstGeom prst="ellipse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874519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Background</a:t>
            </a:r>
            <a:br/>
            <a: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51460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44444"/>
                </a:solidFill>
                <a:latin typeface="Calibri"/>
              </a:defRPr>
            </a:pPr>
            <a:r>
              <a:t>CEDD stays active,</a:t>
            </a:r>
            <a:br/>
            <a:r>
              <a:t>acknowledges return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29000"/>
            <a:ext cx="5486400" cy="1645920"/>
          </a:xfrm>
          <a:prstGeom prst="roundRect">
            <a:avLst/>
          </a:prstGeom>
          <a:solidFill>
            <a:srgbClr val="D6E9F8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Calibri"/>
              </a:defRPr>
            </a:pPr>
            <a:r>
              <a:t>Simulated Counselor "Alex"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ASIST-trained KHP counselor persona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Active listening: validates before asking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Short responses (2-4 sentences), one question at a time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Blue gradient bubbles distinguish from AI chatbot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Bilingual (FR with tutoiement, EN)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29000"/>
            <a:ext cx="5303520" cy="1645920"/>
          </a:xfrm>
          <a:prstGeom prst="roundRect">
            <a:avLst/>
          </a:prstGeom>
          <a:solidFill>
            <a:srgbClr val="F5F5F5"/>
          </a:solidFill>
          <a:ln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204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Calibri"/>
              </a:defRPr>
            </a:pPr>
            <a:r>
              <a:t>Research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86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71% of youth prefer non-verbal communication (JMIR)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44% of 988 callers abandon before connecting (GSA/OES)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20% seek suicide help via text vs 5% via phone (Ontario)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44444"/>
                </a:solidFill>
                <a:latin typeface="Calibri"/>
              </a:defRPr>
            </a:pPr>
            <a:r>
              <a:t>•  Compare mode: raw LLM vs CEDD-modulated side-by-side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Results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115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BCCDD"/>
                </a:solidFill>
                <a:latin typeface="Calibri"/>
              </a:defRPr>
            </a:pPr>
            <a:r>
              <a:t>Improvement trajectory: baseline to final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5486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CV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66.7% ± 26.4%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90.0% ± 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Training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24 convos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600 convos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Adversarial tests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7 / 10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36 / 36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Critical misses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Languages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FR only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FR + EN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72000"/>
            <a:ext cx="5486400" cy="1600200"/>
          </a:xfrm>
          <a:prstGeom prst="roundRect">
            <a:avLst/>
          </a:prstGeom>
          <a:solidFill>
            <a:srgbClr val="F5F5F5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2A4A"/>
                </a:solidFill>
                <a:latin typeface="Calibri"/>
              </a:defRPr>
            </a:pPr>
            <a:r>
              <a:t>Top Features by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4444"/>
                </a:solidFill>
                <a:latin typeface="Calibri"/>
              </a:defRPr>
            </a:pPr>
            <a:r>
              <a:t>word_count_max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074920"/>
            <a:ext cx="1404518" cy="18288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0678" y="50292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  <a:latin typeface="Calibri"/>
              </a:defRPr>
            </a:pPr>
            <a:r>
              <a:t>0.192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4444"/>
                </a:solidFill>
                <a:latin typeface="Calibri"/>
              </a:defRPr>
            </a:pPr>
            <a:r>
              <a:t>word_count_slope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5349240"/>
            <a:ext cx="1309420" cy="18288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5580" y="5303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  <a:latin typeface="Calibri"/>
              </a:defRPr>
            </a:pPr>
            <a:r>
              <a:t>0.179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4444"/>
                </a:solidFill>
                <a:latin typeface="Calibri"/>
              </a:defRPr>
            </a:pPr>
            <a:r>
              <a:t>word_count_last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5623560"/>
            <a:ext cx="1009497" cy="18288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5657" y="5577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  <a:latin typeface="Calibri"/>
              </a:defRPr>
            </a:pPr>
            <a:r>
              <a:t>0.138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44444"/>
                </a:solidFill>
                <a:latin typeface="Calibri"/>
              </a:defRPr>
            </a:pPr>
            <a:r>
              <a:t>length_delta_mean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5897880"/>
            <a:ext cx="548640" cy="182880"/>
          </a:xfrm>
          <a:prstGeom prst="rect">
            <a:avLst/>
          </a:prstGeom>
          <a:solidFill>
            <a:srgbClr val="29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5852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80B9"/>
                </a:solidFill>
                <a:latin typeface="Calibri"/>
              </a:defRPr>
            </a:pPr>
            <a:r>
              <a:t>0.075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530352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2A4A"/>
                </a:solidFill>
                <a:latin typeface="Calibri"/>
              </a:defRPr>
            </a:pPr>
            <a:r>
              <a:t>CEDD vs EmoAgent (Princeton/Michigan)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583680" y="1828800"/>
          <a:ext cx="49377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8308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CEDD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EmoAgent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~0ms, $0</a:t>
                      </a:r>
                    </a:p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(ML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4× GPT-4o calls</a:t>
                      </a:r>
                    </a:p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(slow, expensive)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Explainability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(67 named features)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Black box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Languages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FR + EN native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English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Cross-session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SQLite tracking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Per-convo only</a:t>
                      </a:r>
                    </a:p>
                  </a:txBody>
                  <a:tcPr anchor="ctr">
                    <a:solidFill>
                      <a:srgbClr val="E8EE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Cultural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Somatization,</a:t>
                      </a:r>
                    </a:p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identity conflict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1153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Target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AI emotional support platforms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School chatbots and wellness apps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Kids Help Phone integration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500">
                <a:solidFill>
                  <a:srgbClr val="444444"/>
                </a:solidFill>
                <a:latin typeface="Calibri"/>
              </a:defRPr>
            </a:pPr>
            <a:r>
              <a:t>•  Any youth-facing conversational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Canadian Multicultural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Somatization detection (South Asian cultural patterns)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Identity conflict detection (2SLGBTQ+ youth)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Withdrawal/silence detection (East Asian expression norms)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Native French + English bilingual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5F5F5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LSTM sequence model (understand message order natively)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Real clinical data partnership for validation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PHQ-9 integration as complementary metric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REST API for plug-in deployment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44444"/>
                </a:solidFill>
                <a:latin typeface="Calibri"/>
              </a:defRPr>
            </a:pPr>
            <a:r>
              <a:t>•  Indigenous expression pattern expansion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486400" cy="1645920"/>
          </a:xfrm>
          <a:prstGeom prst="roundRect">
            <a:avLst/>
          </a:prstGeom>
          <a:solidFill>
            <a:srgbClr val="FDEDED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  <a:latin typeface="Calibri"/>
              </a:defRPr>
            </a:pPr>
            <a:r>
              <a:t>Emergency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E74C3C"/>
                </a:solidFill>
                <a:latin typeface="Calibri"/>
              </a:defRPr>
            </a:pPr>
            <a:r>
              <a:t>•  Kids Help Phone: 1-800-668-6868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E74C3C"/>
                </a:solidFill>
                <a:latin typeface="Calibri"/>
              </a:defRPr>
            </a:pPr>
            <a:r>
              <a:t>•  Text: 686868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E74C3C"/>
                </a:solidFill>
                <a:latin typeface="Calibri"/>
              </a:defRPr>
            </a:pPr>
            <a:r>
              <a:t>•  Suicide Crisis Helpline: 9-8-8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E74C3C"/>
                </a:solidFill>
                <a:latin typeface="Calibri"/>
              </a:defRPr>
            </a:pPr>
            <a:r>
              <a:t>•  Emergency: 911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12080"/>
            <a:ext cx="11247120" cy="731520"/>
          </a:xfrm>
          <a:prstGeom prst="roundRect">
            <a:avLst/>
          </a:prstGeom>
          <a:solidFill>
            <a:srgbClr val="D6E9F8"/>
          </a:solidFill>
          <a:ln>
            <a:solidFill>
              <a:srgbClr val="2980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2200" b="1" i="1">
                <a:solidFill>
                  <a:srgbClr val="1B2A4A"/>
                </a:solidFill>
                <a:latin typeface="Calibri"/>
              </a:defRPr>
            </a:pPr>
            <a:r>
              <a:t>"CEDD detects the drift, not just the alarm cry."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Team 404HarmNotFound  ·  Shuchita Singh  ·  Amanda Wu  ·  Priyanka Naga  ·  Dominic D'Apice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